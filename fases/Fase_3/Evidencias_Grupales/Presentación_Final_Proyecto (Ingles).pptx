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8229600" cx="146304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IBM Plex Sans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2">
          <p15:clr>
            <a:srgbClr val="747775"/>
          </p15:clr>
        </p15:guide>
        <p15:guide id="2" pos="4608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i4l8hRRrtLOAWS3urhz5RHEpG8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5A0684-D79B-49B0-A0BA-944F687F390B}">
  <a:tblStyle styleId="{DB5A0684-D79B-49B0-A0BA-944F687F39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2" orient="horz"/>
        <p:guide pos="46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SansMedium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381293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60"/>
              <a:buNone/>
              <a:defRPr sz="9360"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80"/>
              <a:buNone/>
              <a:defRPr sz="648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8862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8862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40"/>
              <a:buNone/>
              <a:defRPr sz="5040"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32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36576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1pPr>
            <a:lvl2pPr indent="-36576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2pPr>
            <a:lvl3pPr indent="-36576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3pPr>
            <a:lvl4pPr indent="-36576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4pPr>
            <a:lvl5pPr indent="-36576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5pPr>
            <a:lvl6pPr indent="-36576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6pPr>
            <a:lvl7pPr indent="-36576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●"/>
              <a:defRPr sz="2160"/>
            </a:lvl7pPr>
            <a:lvl8pPr indent="-365759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○"/>
              <a:defRPr sz="2160"/>
            </a:lvl8pPr>
            <a:lvl9pPr indent="-365759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  <a:defRPr sz="216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784400" y="720240"/>
            <a:ext cx="10188300" cy="6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40"/>
              <a:buNone/>
              <a:defRPr sz="864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424800" y="1973080"/>
            <a:ext cx="64725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60"/>
              <a:buNone/>
              <a:defRPr sz="756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424800" y="4484920"/>
            <a:ext cx="64725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  <a:defRPr sz="378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-4343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98720" y="6768920"/>
            <a:ext cx="95979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  <a:defRPr sz="3240"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64575" lIns="164575" spcFirstLastPara="1" rIns="164575" wrap="square" tIns="164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40"/>
              <a:buChar char="●"/>
              <a:defRPr sz="3240"/>
            </a:lvl1pPr>
            <a:lvl2pPr indent="-388619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2pPr>
            <a:lvl3pPr indent="-388619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3pPr>
            <a:lvl4pPr indent="-388619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4pPr>
            <a:lvl5pPr indent="-38862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5pPr>
            <a:lvl6pPr indent="-38862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6pPr>
            <a:lvl7pPr indent="-38862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●"/>
              <a:defRPr sz="2520"/>
            </a:lvl7pPr>
            <a:lvl8pPr indent="-38862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○"/>
              <a:defRPr sz="2520"/>
            </a:lvl8pPr>
            <a:lvl9pPr indent="-38862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Char char="■"/>
              <a:defRPr sz="2520"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92C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None/>
              <a:defRPr b="0" i="0" sz="5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75" lIns="164575" spcFirstLastPara="1" rIns="164575" wrap="square" tIns="164575">
            <a:normAutofit/>
          </a:bodyPr>
          <a:lstStyle>
            <a:lvl1pPr indent="-4343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40"/>
              <a:buFont typeface="Arial"/>
              <a:buChar char="●"/>
              <a:defRPr b="0" i="0" sz="324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861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8619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8619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●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862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862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862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●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862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○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862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Arial"/>
              <a:buChar char="■"/>
              <a:defRPr b="0" i="0" sz="252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575" lIns="164575" spcFirstLastPara="1" rIns="164575" wrap="square" tIns="1645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3.png"/><Relationship Id="rId8" Type="http://schemas.openxmlformats.org/officeDocument/2006/relationships/hyperlink" Target="http://github.com/Leckiam/InsightDo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7660150" y="987375"/>
            <a:ext cx="6546000" cy="27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InsightDox: </a:t>
            </a: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Intelligent Document Management Platform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7660150" y="4810675"/>
            <a:ext cx="59157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1"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Team Members: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Maikel Cisternas y Marcelo Peña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Company</a:t>
            </a: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Fenix Ingeniería y Servicios Ltda.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Professor</a:t>
            </a: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Cristian Molina Pedernera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Course</a:t>
            </a:r>
            <a:r>
              <a:rPr b="1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PTY4614-005D </a:t>
            </a:r>
            <a:endParaRPr b="0" i="0" sz="1750" u="none" cap="none" strike="noStrike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" name="Google Shape;56;p1"/>
          <p:cNvGrpSpPr/>
          <p:nvPr/>
        </p:nvGrpSpPr>
        <p:grpSpPr>
          <a:xfrm>
            <a:off x="12825731" y="7286601"/>
            <a:ext cx="1804679" cy="942951"/>
            <a:chOff x="3561900" y="1268775"/>
            <a:chExt cx="2718300" cy="756600"/>
          </a:xfrm>
        </p:grpSpPr>
        <p:sp>
          <p:nvSpPr>
            <p:cNvPr id="57" name="Google Shape;57;p1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1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1"/>
          <p:cNvGrpSpPr/>
          <p:nvPr/>
        </p:nvGrpSpPr>
        <p:grpSpPr>
          <a:xfrm>
            <a:off x="-299250" y="-50"/>
            <a:ext cx="7780701" cy="8229600"/>
            <a:chOff x="-299250" y="-50"/>
            <a:chExt cx="7780701" cy="8229600"/>
          </a:xfrm>
        </p:grpSpPr>
        <p:pic>
          <p:nvPicPr>
            <p:cNvPr id="60" name="Google Shape;6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99250" y="-50"/>
              <a:ext cx="7780701" cy="82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" title="imagen_2025-11-28_143601978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575" y="2293525"/>
              <a:ext cx="7135500" cy="3982800"/>
            </a:xfrm>
            <a:prstGeom prst="roundRect">
              <a:avLst>
                <a:gd fmla="val 857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438750" y="379475"/>
            <a:ext cx="102219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Developed Competencies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38750" y="1955025"/>
            <a:ext cx="13281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Requirements gathering and analysis.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Development, adaptation, and/or integration of computer systems.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Development of technological solutions.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Software quality assurance.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Project management.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Information management.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Teamwork</a:t>
            </a: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-"/>
            </a:pPr>
            <a:r>
              <a:rPr lang="es" sz="2900">
                <a:solidFill>
                  <a:srgbClr val="FFFFFF"/>
                </a:solidFill>
              </a:rPr>
              <a:t>Problem-solving</a:t>
            </a:r>
            <a:r>
              <a:rPr b="0" i="0" lang="e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12825806" y="7280907"/>
            <a:ext cx="1804679" cy="948549"/>
            <a:chOff x="3561900" y="1268775"/>
            <a:chExt cx="2718300" cy="756600"/>
          </a:xfrm>
        </p:grpSpPr>
        <p:sp>
          <p:nvSpPr>
            <p:cNvPr id="69" name="Google Shape;69;p2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2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6280190" y="624368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The  current Challenge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80190" y="2365534"/>
            <a:ext cx="3664800" cy="2032800"/>
          </a:xfrm>
          <a:prstGeom prst="roundRect">
            <a:avLst>
              <a:gd fmla="val 1674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06976" y="2483300"/>
            <a:ext cx="3095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lang="e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Dispersed Information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06963" y="2973732"/>
            <a:ext cx="32112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Data managed independently, preventing a real-time view.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171748" y="2365534"/>
            <a:ext cx="3664800" cy="2032800"/>
          </a:xfrm>
          <a:prstGeom prst="roundRect">
            <a:avLst>
              <a:gd fmla="val 1674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362862" y="248329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lang="e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Limited Access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362850" y="2973727"/>
            <a:ext cx="32112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Data shared upon request, causing operational delays.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80190" y="4625102"/>
            <a:ext cx="7556400" cy="1306800"/>
          </a:xfrm>
          <a:prstGeom prst="roundRect">
            <a:avLst>
              <a:gd fmla="val 2603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507004" y="486609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lang="e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Slow Decisions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07004" y="5356509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Without real-time updates, decisions are delayed.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280190" y="6187202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Risks of duplication, information loss, and high operational costs.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3"/>
          <p:cNvGrpSpPr/>
          <p:nvPr/>
        </p:nvGrpSpPr>
        <p:grpSpPr>
          <a:xfrm>
            <a:off x="12825806" y="7280907"/>
            <a:ext cx="1804679" cy="948549"/>
            <a:chOff x="3561900" y="1268775"/>
            <a:chExt cx="2718300" cy="756600"/>
          </a:xfrm>
        </p:grpSpPr>
        <p:sp>
          <p:nvSpPr>
            <p:cNvPr id="87" name="Google Shape;87;p3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3" title="logo-fenix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" name="Google Shape;89;p3" title="papel-fenix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399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532903" y="513125"/>
            <a:ext cx="9600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Methodology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2453225" y="1682550"/>
            <a:ext cx="9723900" cy="5598300"/>
            <a:chOff x="2453225" y="1682550"/>
            <a:chExt cx="9723900" cy="5598300"/>
          </a:xfrm>
        </p:grpSpPr>
        <p:sp>
          <p:nvSpPr>
            <p:cNvPr id="96" name="Google Shape;96;p4"/>
            <p:cNvSpPr/>
            <p:nvPr/>
          </p:nvSpPr>
          <p:spPr>
            <a:xfrm>
              <a:off x="2453225" y="1682550"/>
              <a:ext cx="9723900" cy="5598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" name="Google Shape;97;p4"/>
            <p:cNvPicPr preferRelativeResize="0"/>
            <p:nvPr/>
          </p:nvPicPr>
          <p:blipFill rotWithShape="1">
            <a:blip r:embed="rId3">
              <a:alphaModFix/>
            </a:blip>
            <a:srcRect b="10094" l="0" r="0" t="0"/>
            <a:stretch/>
          </p:blipFill>
          <p:spPr>
            <a:xfrm>
              <a:off x="2453300" y="1682550"/>
              <a:ext cx="9723776" cy="5598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793803" y="892600"/>
            <a:ext cx="9600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Proposed Solution</a:t>
            </a:r>
            <a:r>
              <a:rPr b="0" i="0" lang="es" sz="445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: InsightDox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93790" y="2168366"/>
            <a:ext cx="4863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650"/>
              <a:buFont typeface="IBM Plex Sans Medium"/>
              <a:buNone/>
            </a:pPr>
            <a:r>
              <a:rPr lang="es" sz="26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Centralized Platform with AI</a:t>
            </a:r>
            <a:endParaRPr b="0" i="0" sz="2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793800" y="28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{DB5A0684-D79B-49B0-A0BA-944F687F390B}</a:tableStyleId>
              </a:tblPr>
              <a:tblGrid>
                <a:gridCol w="3617425"/>
                <a:gridCol w="39869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Functional Requirements (What does it do?)</a:t>
                      </a:r>
                      <a:endParaRPr b="1" sz="1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164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</a:rPr>
                        <a:t>Non-Functional Requirements (How does it do it?)</a:t>
                      </a:r>
                      <a:endParaRPr b="1" sz="11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1646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Analysis and Intelligence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Robustness and Scalability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Historical data queries (totals, averages) assisted by AI.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Availability and Fault Tolerance (maintain operation despite non-critical failures).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Expense or trend prediction for the next month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Scalability to increase users, reports, and AI capacity without restructuring.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Management and Data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F1F1F"/>
                          </a:solidFill>
                        </a:rPr>
                        <a:t>Seguridad y Confidencialidad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Complete CRUD for Cost Reports and Users (with security roles).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Secure Integration with Cloud services (GCS and Compute Engine).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Centralized DB storage in MariaDB.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Confidentiality of reports only for authorized users.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Interaction and Usability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Performance and Compatibility</a:t>
                      </a:r>
                      <a:endParaRPr b="1"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C8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 Clear success and error notifications in forms and operations.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Adequate performance under high load and acceptable response times.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Secure Password Recovery flow via email link.</a:t>
                      </a:r>
                      <a:endParaRPr sz="1400" u="none" cap="none" strike="noStrike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1F1F1F"/>
                          </a:solidFill>
                        </a:rPr>
                        <a:t>*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Full compatibility with main browsers (Chrome, Edge, Firefox, Opera).</a:t>
                      </a:r>
                      <a:endParaRPr sz="1100" u="none" cap="none" strike="noStrike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105" name="Google Shape;105;p5"/>
          <p:cNvGrpSpPr/>
          <p:nvPr/>
        </p:nvGrpSpPr>
        <p:grpSpPr>
          <a:xfrm>
            <a:off x="8600475" y="2484825"/>
            <a:ext cx="5927400" cy="4673805"/>
            <a:chOff x="8600475" y="2484825"/>
            <a:chExt cx="5927400" cy="4673805"/>
          </a:xfrm>
        </p:grpSpPr>
        <p:pic>
          <p:nvPicPr>
            <p:cNvPr id="106" name="Google Shape;10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00475" y="2484825"/>
              <a:ext cx="5927400" cy="4673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5" title="imagen_2025-11-28_143437862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06050" y="2708825"/>
              <a:ext cx="5187600" cy="3373200"/>
            </a:xfrm>
            <a:prstGeom prst="roundRect">
              <a:avLst>
                <a:gd fmla="val 131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639842" y="783312"/>
            <a:ext cx="132168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550"/>
              <a:buFont typeface="IBM Plex Sans Medium"/>
              <a:buNone/>
            </a:pPr>
            <a:r>
              <a:rPr lang="es" sz="35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Strategic Objectives: A Direct Approach to Our Challenges</a:t>
            </a:r>
            <a:endParaRPr b="0" i="0" sz="3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39842" y="1994416"/>
            <a:ext cx="65838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9842" y="1971556"/>
            <a:ext cx="65838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0" y="1720215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45463" y="2451378"/>
            <a:ext cx="3879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lang="es" sz="175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Intuitive and Transparent Architecture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45338" y="3212184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lang="es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Clear interface design for effective visualization of data and historical trends.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406521" y="1994416"/>
            <a:ext cx="65841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406521" y="1971556"/>
            <a:ext cx="65841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424279" y="1720215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612142" y="2451378"/>
            <a:ext cx="3228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lang="es" sz="175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Unified Data Integration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612142" y="2846546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lang="es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Efficient modules for smooth import and export of critical business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39842" y="4094202"/>
            <a:ext cx="65838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9842" y="4071342"/>
            <a:ext cx="65838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0" y="3820001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45463" y="4551164"/>
            <a:ext cx="3628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lang="es" sz="175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Empowering Artificial Intelligence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45463" y="4946333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lang="es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Intelligent search, advanced analysis, and scenario prediction for proactive decision-making.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406521" y="4094202"/>
            <a:ext cx="6584100" cy="1642800"/>
          </a:xfrm>
          <a:prstGeom prst="roundRect">
            <a:avLst>
              <a:gd fmla="val 6679" name="adj"/>
            </a:avLst>
          </a:prstGeom>
          <a:solidFill>
            <a:srgbClr val="29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06521" y="4071342"/>
            <a:ext cx="6584100" cy="91500"/>
          </a:xfrm>
          <a:prstGeom prst="roundRect">
            <a:avLst>
              <a:gd fmla="val 29991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424279" y="3820001"/>
            <a:ext cx="548400" cy="548400"/>
          </a:xfrm>
          <a:prstGeom prst="roundRect">
            <a:avLst>
              <a:gd fmla="val 166739" name="adj"/>
            </a:avLst>
          </a:prstGeom>
          <a:solidFill>
            <a:srgbClr val="FFBC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612142" y="4551164"/>
            <a:ext cx="4168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IBM Plex Sans Medium"/>
              <a:buNone/>
            </a:pPr>
            <a:r>
              <a:rPr lang="es" sz="175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Enhanced Security and Confidentiality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612142" y="4946333"/>
            <a:ext cx="61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lang="es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Protection and confidentiality of information through robust security protocols.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39842" y="6011228"/>
            <a:ext cx="5236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850"/>
              <a:buFont typeface="IBM Plex Sans Medium"/>
              <a:buNone/>
            </a:pPr>
            <a:r>
              <a:rPr lang="es" sz="28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Assured Validation and Quality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39842" y="6742390"/>
            <a:ext cx="13350600" cy="703800"/>
          </a:xfrm>
          <a:prstGeom prst="roundRect">
            <a:avLst>
              <a:gd fmla="val 38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45463" y="6948011"/>
            <a:ext cx="1293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00"/>
              <a:buFont typeface="Roboto"/>
              <a:buNone/>
            </a:pPr>
            <a:r>
              <a:rPr lang="es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Comprehensive testing of usability, performance, and security to ensure maximum quality and reliability before implementation.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6" title="confidencialid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56" y="3911330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7" name="Google Shape;137;p6" title="app_22350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931" y="3911330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8" name="Google Shape;138;p6" title="computer_332095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8931" y="1818205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pic>
        <p:nvPicPr>
          <p:cNvPr id="139" name="Google Shape;139;p6" title="sync_302987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56" y="1818205"/>
            <a:ext cx="365760" cy="365760"/>
          </a:xfrm>
          <a:prstGeom prst="rect">
            <a:avLst/>
          </a:prstGeom>
          <a:solidFill>
            <a:srgbClr val="FFBC8F"/>
          </a:solidFill>
          <a:ln>
            <a:noFill/>
          </a:ln>
        </p:spPr>
      </p:pic>
      <p:grpSp>
        <p:nvGrpSpPr>
          <p:cNvPr id="140" name="Google Shape;140;p6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41" name="Google Shape;141;p6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" name="Google Shape;142;p6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6131362" y="506730"/>
            <a:ext cx="4607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600"/>
              <a:buFont typeface="IBM Plex Sans Medium"/>
              <a:buNone/>
            </a:pPr>
            <a:r>
              <a:rPr b="0" i="0" lang="es" sz="3600" u="none" cap="none" strike="noStrike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Solución Técnica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131362" y="1358979"/>
            <a:ext cx="7854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lang="es" sz="14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Robust and scalable architecture for integration, data analysis, security, and efficient usability.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131362" y="2155865"/>
            <a:ext cx="7854000" cy="1107300"/>
          </a:xfrm>
          <a:prstGeom prst="roundRect">
            <a:avLst>
              <a:gd fmla="val 24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54222" y="2178725"/>
            <a:ext cx="737100" cy="10617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075524" y="2362925"/>
            <a:ext cx="351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Backend </a:t>
            </a:r>
            <a:r>
              <a:rPr lang="es" sz="18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and</a:t>
            </a:r>
            <a:r>
              <a:rPr b="0" i="0" lang="es" sz="1800" u="none" cap="none" strike="noStrike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s" sz="18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 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075527" y="2761298"/>
            <a:ext cx="6702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Full-Stack: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Django 5.2.6, </a:t>
            </a:r>
            <a:r>
              <a:rPr b="1" lang="es" sz="14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Data Base</a:t>
            </a: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MariaDB/MySQL.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131362" y="3447336"/>
            <a:ext cx="7854000" cy="1107300"/>
          </a:xfrm>
          <a:prstGeom prst="roundRect">
            <a:avLst>
              <a:gd fmla="val 2497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154222" y="3470196"/>
            <a:ext cx="737100" cy="10617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075527" y="3654385"/>
            <a:ext cx="3006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lang="es" sz="18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AI, Analysis, and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075527" y="4052768"/>
            <a:ext cx="6702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IA: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phi3:mini, RandomForestRegressor, LogisticRegression, scikit-learn, pandas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131362" y="4738807"/>
            <a:ext cx="7854000" cy="1402200"/>
          </a:xfrm>
          <a:prstGeom prst="roundRect">
            <a:avLst>
              <a:gd fmla="val 1972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154222" y="4761667"/>
            <a:ext cx="737100" cy="13563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075524" y="4945850"/>
            <a:ext cx="3894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lang="es" sz="18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Security and Role Management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075527" y="5344239"/>
            <a:ext cx="6702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lang="es" sz="14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r>
              <a:rPr b="1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4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4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Security: Django Auth with 3 main roles: Contract Administrator, Security, and Consultant.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131362" y="6325076"/>
            <a:ext cx="7854000" cy="1402200"/>
          </a:xfrm>
          <a:prstGeom prst="roundRect">
            <a:avLst>
              <a:gd fmla="val 1972" name="adj"/>
            </a:avLst>
          </a:prstGeom>
          <a:solidFill>
            <a:srgbClr val="292C32"/>
          </a:solidFill>
          <a:ln cap="flat" cmpd="sng" w="22850">
            <a:solidFill>
              <a:srgbClr val="616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154222" y="6347936"/>
            <a:ext cx="737100" cy="1356300"/>
          </a:xfrm>
          <a:prstGeom prst="roundRect">
            <a:avLst>
              <a:gd fmla="val 29" name="adj"/>
            </a:avLst>
          </a:prstGeom>
          <a:solidFill>
            <a:srgbClr val="484B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075527" y="6532126"/>
            <a:ext cx="2303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800"/>
              <a:buFont typeface="IBM Plex Sans Medium"/>
              <a:buNone/>
            </a:pPr>
            <a:r>
              <a:rPr lang="es" sz="18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Frontend and Utilities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75527" y="6930509"/>
            <a:ext cx="6702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450"/>
              <a:buFont typeface="Roboto"/>
              <a:buNone/>
            </a:pPr>
            <a:r>
              <a:rPr b="1" lang="es" sz="14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Frontend: Bootstrap 5 + JavaScript. Cloud Storage: Google Cloud Storage.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7" title="pngeg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3900" y="2330050"/>
            <a:ext cx="757426" cy="7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 title="pngegg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125" y="3691150"/>
            <a:ext cx="709049" cy="69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075" y="5042099"/>
            <a:ext cx="737100" cy="744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6891" y="6660075"/>
            <a:ext cx="1411827" cy="744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7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70" name="Google Shape;170;p7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7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2" name="Google Shape;172;p7" title="Texto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2150"/>
            <a:ext cx="4816976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4339672" y="117250"/>
            <a:ext cx="583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3600"/>
              <a:buFont typeface="IBM Plex Sans Medium"/>
              <a:buNone/>
            </a:pPr>
            <a:r>
              <a:rPr lang="es" sz="36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Package Diagram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8" title="DiagramaDePaquetes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750" y="822063"/>
            <a:ext cx="11216525" cy="6585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8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180" name="Google Shape;180;p8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8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14610"/>
          <a:stretch/>
        </p:blipFill>
        <p:spPr>
          <a:xfrm>
            <a:off x="0" y="1194126"/>
            <a:ext cx="14630401" cy="5931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9"/>
          <p:cNvGrpSpPr/>
          <p:nvPr/>
        </p:nvGrpSpPr>
        <p:grpSpPr>
          <a:xfrm>
            <a:off x="12825731" y="7281057"/>
            <a:ext cx="1804679" cy="948549"/>
            <a:chOff x="3561900" y="1268775"/>
            <a:chExt cx="2718300" cy="756600"/>
          </a:xfrm>
        </p:grpSpPr>
        <p:sp>
          <p:nvSpPr>
            <p:cNvPr id="188" name="Google Shape;188;p9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" name="Google Shape;189;p9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9"/>
          <p:cNvSpPr/>
          <p:nvPr/>
        </p:nvSpPr>
        <p:spPr>
          <a:xfrm>
            <a:off x="350199" y="360000"/>
            <a:ext cx="10727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b="1" lang="es" sz="2700">
                <a:solidFill>
                  <a:srgbClr val="F3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Satisfaction Results (Simulated)</a:t>
            </a:r>
            <a:endParaRPr b="1" i="0" sz="2700" u="none" cap="none" strike="noStrike">
              <a:solidFill>
                <a:srgbClr val="000000"/>
              </a:solidFill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50190" y="831135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Survey of 20 Key Users (Administrators and Managers) of Fenix Engineering</a:t>
            </a:r>
            <a:endParaRPr sz="1750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793790" y="745212"/>
            <a:ext cx="6508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450"/>
              <a:buFont typeface="IBM Plex Sans Medium"/>
              <a:buNone/>
            </a:pPr>
            <a:r>
              <a:rPr lang="e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Validation Results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433702" y="5593685"/>
            <a:ext cx="3321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lang="e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Prediction Accuracy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014840" y="6084103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Rating: Acceptable (simulated data)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028481" y="5623873"/>
            <a:ext cx="316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200"/>
              <a:buFont typeface="IBM Plex Sans Medium"/>
              <a:buNone/>
            </a:pPr>
            <a:r>
              <a:rPr lang="e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AI Response Time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533181" y="6114291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lang="e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5-7 seconds (optimal servers): Acceptable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93790" y="721636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750"/>
              <a:buFont typeface="Roboto"/>
              <a:buNone/>
            </a:pPr>
            <a:r>
              <a:rPr b="0" i="0" lang="es" sz="1750" u="none" cap="none" strike="noStrike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Funcionalidad sólida demostrada. Margen de mejora en precisión predictiva una vez se incorporen datos reales.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>
            <a:off x="8911313" y="1845180"/>
            <a:ext cx="3402329" cy="3402329"/>
            <a:chOff x="9720813" y="1845180"/>
            <a:chExt cx="3402329" cy="3402329"/>
          </a:xfrm>
        </p:grpSpPr>
        <p:sp>
          <p:nvSpPr>
            <p:cNvPr id="203" name="Google Shape;203;p10"/>
            <p:cNvSpPr/>
            <p:nvPr/>
          </p:nvSpPr>
          <p:spPr>
            <a:xfrm>
              <a:off x="10026983" y="3262832"/>
              <a:ext cx="27900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D4D1"/>
                </a:buClr>
                <a:buSzPts val="4450"/>
                <a:buFont typeface="IBM Plex Sans Medium"/>
                <a:buNone/>
              </a:pPr>
              <a:r>
                <a:rPr b="0" i="0" lang="es" sz="4450" u="none" cap="none" strike="noStrike">
                  <a:solidFill>
                    <a:srgbClr val="D4D4D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5-7</a:t>
              </a:r>
              <a:endParaRPr b="0" i="0" sz="4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reencoded.png" id="204" name="Google Shape;2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20813" y="1845180"/>
              <a:ext cx="3402329" cy="34023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10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206" name="Google Shape;206;p10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7" name="Google Shape;207;p10" title="logo-fenix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8" name="Google Shape;208;p10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2947" y="1845175"/>
            <a:ext cx="5502300" cy="3402300"/>
          </a:xfrm>
          <a:prstGeom prst="roundRect">
            <a:avLst>
              <a:gd fmla="val 1004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/>
          <p:nvPr/>
        </p:nvSpPr>
        <p:spPr>
          <a:xfrm>
            <a:off x="721638" y="566976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4050"/>
              <a:buFont typeface="IBM Plex Sans Medium"/>
              <a:buNone/>
            </a:pPr>
            <a:r>
              <a:rPr lang="es" sz="40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Future Projections</a:t>
            </a:r>
            <a:endParaRPr b="0" i="0" sz="4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50" y="1548575"/>
            <a:ext cx="6342000" cy="5943600"/>
          </a:xfrm>
          <a:prstGeom prst="roundRect">
            <a:avLst>
              <a:gd fmla="val 6008" name="adj"/>
            </a:avLst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7574274" y="1726650"/>
            <a:ext cx="6221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3F3F2"/>
              </a:buClr>
              <a:buSzPts val="2400"/>
              <a:buFont typeface="IBM Plex Sans Medium"/>
              <a:buNone/>
            </a:pPr>
            <a:r>
              <a:rPr lang="es" sz="24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Project Expansion and Evolution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6" name="Google Shape;2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4280" y="2345174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8811350" y="2551275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lang="es" sz="20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Strategic Client Acquisition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811339" y="3079552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lang="es" sz="16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Identification of companies with centralization and document management needs.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4280" y="3945493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8811351" y="4151600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lang="es" sz="20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Expansion with Inventory Management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811339" y="4679871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lang="es" sz="16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Integration of stock control and advanced logistics module.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280" y="5545812"/>
            <a:ext cx="1030962" cy="160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8811355" y="5751900"/>
            <a:ext cx="49845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2000"/>
              <a:buFont typeface="IBM Plex Sans Medium"/>
              <a:buNone/>
            </a:pPr>
            <a:r>
              <a:rPr lang="es" sz="20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Continuous AI Optimization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811339" y="6280190"/>
            <a:ext cx="5105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4D4D1"/>
              </a:buClr>
              <a:buSzPts val="1600"/>
              <a:buFont typeface="Roboto"/>
              <a:buNone/>
            </a:pPr>
            <a:r>
              <a:rPr lang="es" sz="16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Refinement of AI algorithms with real data for greater accuracy.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11"/>
          <p:cNvGrpSpPr/>
          <p:nvPr/>
        </p:nvGrpSpPr>
        <p:grpSpPr>
          <a:xfrm>
            <a:off x="12825806" y="7280993"/>
            <a:ext cx="1804679" cy="948625"/>
            <a:chOff x="3561900" y="1268775"/>
            <a:chExt cx="2718300" cy="756600"/>
          </a:xfrm>
        </p:grpSpPr>
        <p:sp>
          <p:nvSpPr>
            <p:cNvPr id="226" name="Google Shape;226;p11"/>
            <p:cNvSpPr/>
            <p:nvPr/>
          </p:nvSpPr>
          <p:spPr>
            <a:xfrm>
              <a:off x="3561900" y="1268775"/>
              <a:ext cx="2718300" cy="75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700" lIns="60700" spcFirstLastPara="1" rIns="60700" wrap="square" tIns="6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9"/>
                <a:buFont typeface="Arial"/>
                <a:buNone/>
              </a:pPr>
              <a:r>
                <a:t/>
              </a:r>
              <a:endParaRPr b="0" i="0" sz="9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p11" title="logo-fenix.png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61900" y="1268775"/>
              <a:ext cx="2718300" cy="75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11">
            <a:hlinkClick r:id="rId8"/>
          </p:cNvPr>
          <p:cNvSpPr txBox="1"/>
          <p:nvPr/>
        </p:nvSpPr>
        <p:spPr>
          <a:xfrm>
            <a:off x="12373575" y="0"/>
            <a:ext cx="225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sng" cap="none" strike="noStrike">
                <a:solidFill>
                  <a:srgbClr val="FFBC8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2000" u="sng" cap="none" strike="noStrike">
              <a:solidFill>
                <a:srgbClr val="FFBC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