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8229600" cx="146304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IBM Plex Sa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2">
          <p15:clr>
            <a:srgbClr val="747775"/>
          </p15:clr>
        </p15:guide>
        <p15:guide id="2" pos="4608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j13Xv4DCQ0WkqjRusFgqhpNrVz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AABA3A-066E-4038-8A59-8F3570FB1B30}">
  <a:tblStyle styleId="{69AABA3A-066E-4038-8A59-8F3570FB1B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2" orient="horz"/>
        <p:guide pos="46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IBMPlexSans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IBMPlexSansMedium-italic.fntdata"/><Relationship Id="rId23" Type="http://schemas.openxmlformats.org/officeDocument/2006/relationships/font" Target="fonts/IBMPlex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IBMPlexSans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8862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8862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6576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784400" y="720240"/>
            <a:ext cx="10188300" cy="6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424800" y="1973080"/>
            <a:ext cx="64725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424800" y="4484920"/>
            <a:ext cx="64725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-4343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98720" y="6768920"/>
            <a:ext cx="95979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  <a:defRPr sz="3240"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92C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40"/>
              <a:buFont typeface="Arial"/>
              <a:buChar char="●"/>
              <a:defRPr b="0" i="0" sz="324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861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8619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8619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●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862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862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862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●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862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862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hyperlink" Target="http://github.com/Leckiam/InsightDox/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hyperlink" Target="https://drive.google.com/file/d/1bOVS8MyWHiAYhv0EkwltAztPbqi0Kbx2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7660150" y="987375"/>
            <a:ext cx="6546000" cy="27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InsightDox: Plataforma Inteligente de Gestión Documental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7660150" y="4810675"/>
            <a:ext cx="59157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Integrantes: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Maikel Cisternas y Marcelo Peña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Empresa: 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Fenix Ingeniería y Servicios Ltda.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Profesor: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Cristian Molina Pedernera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Asignatura: 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PTY4614-005D 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" name="Google Shape;56;p1"/>
          <p:cNvGrpSpPr/>
          <p:nvPr/>
        </p:nvGrpSpPr>
        <p:grpSpPr>
          <a:xfrm>
            <a:off x="12825731" y="7286601"/>
            <a:ext cx="1804679" cy="942951"/>
            <a:chOff x="3561900" y="1268775"/>
            <a:chExt cx="2718300" cy="756600"/>
          </a:xfrm>
        </p:grpSpPr>
        <p:sp>
          <p:nvSpPr>
            <p:cNvPr id="57" name="Google Shape;57;p1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1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1"/>
          <p:cNvGrpSpPr/>
          <p:nvPr/>
        </p:nvGrpSpPr>
        <p:grpSpPr>
          <a:xfrm>
            <a:off x="-299250" y="-50"/>
            <a:ext cx="7780701" cy="8229600"/>
            <a:chOff x="-299250" y="-50"/>
            <a:chExt cx="7780701" cy="8229600"/>
          </a:xfrm>
        </p:grpSpPr>
        <p:pic>
          <p:nvPicPr>
            <p:cNvPr id="60" name="Google Shape;6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99250" y="-50"/>
              <a:ext cx="7780701" cy="82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" title="imagen_2025-11-28_143601978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575" y="2293525"/>
              <a:ext cx="7135500" cy="3982800"/>
            </a:xfrm>
            <a:prstGeom prst="roundRect">
              <a:avLst>
                <a:gd fmla="val 857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438750" y="379475"/>
            <a:ext cx="102219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Competencias desarrolladas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38750" y="1955025"/>
            <a:ext cx="13281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Levantamiento y análisis de requerimientos. 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Desarrollo, adaptación y/o integración de sistemas computacionales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soluciones tecnológicas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Aseguramiento de la calidad del software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proyectos informáticos.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la información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Trabajo en equipo.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Resolución de problemas.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12825806" y="7280907"/>
            <a:ext cx="1804679" cy="948549"/>
            <a:chOff x="3561900" y="1268775"/>
            <a:chExt cx="2718300" cy="756600"/>
          </a:xfrm>
        </p:grpSpPr>
        <p:sp>
          <p:nvSpPr>
            <p:cNvPr id="69" name="Google Shape;69;p2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2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6280190" y="13165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El Desafío Actual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80190" y="2365534"/>
            <a:ext cx="3664800" cy="2032800"/>
          </a:xfrm>
          <a:prstGeom prst="roundRect">
            <a:avLst>
              <a:gd fmla="val 1674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06967" y="248329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b="0" i="0" lang="es" sz="22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Información Dispersa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06963" y="2973732"/>
            <a:ext cx="32112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Datos gestionados de forma independiente, lo cual impide una visión en tiempo real.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171748" y="2365534"/>
            <a:ext cx="3664800" cy="2032800"/>
          </a:xfrm>
          <a:prstGeom prst="roundRect">
            <a:avLst>
              <a:gd fmla="val 1674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362862" y="248329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b="0" i="0" lang="es" sz="22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Acceso Limitado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362850" y="2973727"/>
            <a:ext cx="32112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Datos compartidos por solicitud, causando retrasos operativos.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80190" y="4625102"/>
            <a:ext cx="7556400" cy="1306800"/>
          </a:xfrm>
          <a:prstGeom prst="roundRect">
            <a:avLst>
              <a:gd fmla="val 2603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507004" y="486609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b="0" i="0" lang="es" sz="22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Decisiones Lentas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07004" y="5356509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Sin actualización en tiempo real, decisiones tardías.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280190" y="6187202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Riesgos de duplicación, pérdida de información y costos operativos elevados.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3"/>
          <p:cNvGrpSpPr/>
          <p:nvPr/>
        </p:nvGrpSpPr>
        <p:grpSpPr>
          <a:xfrm>
            <a:off x="12825806" y="7280907"/>
            <a:ext cx="1804679" cy="948549"/>
            <a:chOff x="3561900" y="1268775"/>
            <a:chExt cx="2718300" cy="756600"/>
          </a:xfrm>
        </p:grpSpPr>
        <p:sp>
          <p:nvSpPr>
            <p:cNvPr id="87" name="Google Shape;87;p3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3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" name="Google Shape;89;p3" title="papel-fenix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399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32903" y="513125"/>
            <a:ext cx="9600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Metodología</a:t>
            </a: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2453225" y="1682550"/>
            <a:ext cx="9723900" cy="5598300"/>
            <a:chOff x="2453225" y="1682550"/>
            <a:chExt cx="9723900" cy="5598300"/>
          </a:xfrm>
        </p:grpSpPr>
        <p:sp>
          <p:nvSpPr>
            <p:cNvPr id="96" name="Google Shape;96;p4"/>
            <p:cNvSpPr/>
            <p:nvPr/>
          </p:nvSpPr>
          <p:spPr>
            <a:xfrm>
              <a:off x="2453225" y="1682550"/>
              <a:ext cx="9723900" cy="5598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" name="Google Shape;97;p4"/>
            <p:cNvPicPr preferRelativeResize="0"/>
            <p:nvPr/>
          </p:nvPicPr>
          <p:blipFill rotWithShape="1">
            <a:blip r:embed="rId3">
              <a:alphaModFix/>
            </a:blip>
            <a:srcRect b="10095" l="0" r="0" t="0"/>
            <a:stretch/>
          </p:blipFill>
          <p:spPr>
            <a:xfrm>
              <a:off x="2453300" y="1682550"/>
              <a:ext cx="9723776" cy="5598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793803" y="892600"/>
            <a:ext cx="9600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Solución Planteada: InsightDox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93790" y="2168366"/>
            <a:ext cx="4863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650"/>
              <a:buFont typeface="IBM Plex Sans Medium"/>
              <a:buNone/>
            </a:pPr>
            <a:r>
              <a:rPr b="0" i="0" lang="es" sz="26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Plataforma Centralizada con IA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793800" y="28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{69AABA3A-066E-4038-8A59-8F3570FB1B30}</a:tableStyleId>
              </a:tblPr>
              <a:tblGrid>
                <a:gridCol w="3617425"/>
                <a:gridCol w="39869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Requisitos Funcionales (¿Qué hace?)</a:t>
                      </a:r>
                      <a:endParaRPr b="1" sz="1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164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Requisitos No Funcionales (¿Cómo lo hace?)</a:t>
                      </a:r>
                      <a:endParaRPr b="1" sz="1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1646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Análisis e Inteligencia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Robustez y Escalabilidad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Consultas de datos históricos (totales, promedios) asistidas por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IA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Disponibilidad 24/7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y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Tolerancia a fallos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(mantener operación ante fallos no críticos).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Predicción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de gastos o tendencias para el próximo mes.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Escalabilidad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para aumentar usuarios, informes y capacidad de IA sin reestructuración.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Gestión y Datos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Seguridad y Confidencialidad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CRUD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completo de Informes de Costos y Usuarios (con roles de seguridad).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Integración Segura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con servicios Cloud (GCS y Compute Engine).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Almacenamiento centralizado de la BBDD en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MariaDB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Confidencialidad de informes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solo para usuarios autorizados.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Interacción y Usabilidad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Rendimiento y Compatibilidad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Notificaciones claras de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éxito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y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error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en formularios y operaciones.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Rendimiento adecuado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bajo alta carga y tiempos de respuesta aceptables.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Flujo de Recuperación de Contraseña seguro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mediante enlace enviado a correo electrónico.</a:t>
                      </a:r>
                      <a:endParaRPr sz="1400" u="none" cap="none" strike="noStrike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Compatibilidad total</a:t>
                      </a: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 con los navegadores principales (Chrome, Edge, Firefox, Opera).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05" name="Google Shape;105;p5"/>
          <p:cNvGrpSpPr/>
          <p:nvPr/>
        </p:nvGrpSpPr>
        <p:grpSpPr>
          <a:xfrm>
            <a:off x="8600475" y="2484825"/>
            <a:ext cx="5927400" cy="4673805"/>
            <a:chOff x="8600475" y="2484825"/>
            <a:chExt cx="5927400" cy="4673805"/>
          </a:xfrm>
        </p:grpSpPr>
        <p:pic>
          <p:nvPicPr>
            <p:cNvPr id="106" name="Google Shape;10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00475" y="2484825"/>
              <a:ext cx="5927400" cy="4673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5" title="imagen_2025-11-28_143437862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06050" y="2708825"/>
              <a:ext cx="5187600" cy="3373200"/>
            </a:xfrm>
            <a:prstGeom prst="roundRect">
              <a:avLst>
                <a:gd fmla="val 131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639842" y="783312"/>
            <a:ext cx="132168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550"/>
              <a:buFont typeface="IBM Plex Sans Medium"/>
              <a:buNone/>
            </a:pPr>
            <a:r>
              <a:rPr b="0" i="0" lang="es" sz="35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Objetivos Estratégicos: Un Enfoque Directo a Nuestros Desafíos</a:t>
            </a:r>
            <a:endParaRPr b="0" i="0" sz="3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39842" y="1994416"/>
            <a:ext cx="65838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9842" y="1971556"/>
            <a:ext cx="65838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0" y="1720215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45463" y="2451378"/>
            <a:ext cx="3879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Arquitectura Intuitiva y Transparente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45463" y="2846546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b="0" i="0" lang="es" sz="14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Diseño de interfaz clara para visualización eficaz de datos y tendencias históricas.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406521" y="1994416"/>
            <a:ext cx="65841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406521" y="1971556"/>
            <a:ext cx="65841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424279" y="1720215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612142" y="2451378"/>
            <a:ext cx="3228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Integración de Datos Unificada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612142" y="2846546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b="0" i="0" lang="es" sz="14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Módulos eficientes para importación y exportación fluida de información empresarial crítica.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39842" y="4094202"/>
            <a:ext cx="65838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9842" y="4071342"/>
            <a:ext cx="65838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0" y="3820001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45463" y="4551164"/>
            <a:ext cx="3628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Inteligencia Artificial Potenciadora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45463" y="4946333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b="0" i="0" lang="es" sz="14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Búsqueda inteligente, análisis avanzado y predicción de escenarios para decisiones proactivas.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406521" y="4094202"/>
            <a:ext cx="65841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06521" y="4071342"/>
            <a:ext cx="65841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424279" y="3820001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612142" y="4551164"/>
            <a:ext cx="4168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Seguridad y Confidencialidad Reforzada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612142" y="4946333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b="0" i="0" lang="es" sz="14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Protección y confidencialidad de la información mediante protocolos de seguridad robustos.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39842" y="6011228"/>
            <a:ext cx="5236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850"/>
              <a:buFont typeface="IBM Plex Sans Medium"/>
              <a:buNone/>
            </a:pPr>
            <a:r>
              <a:rPr b="0" i="0" lang="es" sz="2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Validación y Calidad Asegurada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39842" y="6742390"/>
            <a:ext cx="13350600" cy="703800"/>
          </a:xfrm>
          <a:prstGeom prst="roundRect">
            <a:avLst>
              <a:gd fmla="val 38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45463" y="6948011"/>
            <a:ext cx="129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b="0" i="0" lang="es" sz="14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Pruebas exhaustivas de usabilidad, rendimiento y seguridad para máxima calidad y fiabilidad antes de la implementación.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6" title="confidencialid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56" y="3911330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7" name="Google Shape;137;p6" title="app_22350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931" y="3911330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8" name="Google Shape;138;p6" title="computer_332095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8931" y="1818205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9" name="Google Shape;139;p6" title="sync_302987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56" y="1818205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grpSp>
        <p:nvGrpSpPr>
          <p:cNvPr id="140" name="Google Shape;140;p6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41" name="Google Shape;141;p6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" name="Google Shape;142;p6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6131362" y="506730"/>
            <a:ext cx="4607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600"/>
              <a:buFont typeface="IBM Plex Sans Medium"/>
              <a:buNone/>
            </a:pPr>
            <a:r>
              <a:rPr b="0" i="0" lang="es" sz="36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Solución Técnica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131362" y="1358979"/>
            <a:ext cx="7854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Arquitectura robusta y escalable para integración, análisis de datos, seguridad y usabilidad eficiente.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31362" y="2155865"/>
            <a:ext cx="7854000" cy="1107300"/>
          </a:xfrm>
          <a:prstGeom prst="roundRect">
            <a:avLst>
              <a:gd fmla="val 24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54222" y="2178725"/>
            <a:ext cx="737100" cy="10617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075527" y="2362914"/>
            <a:ext cx="2643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Backend y Base de Datos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075527" y="2761298"/>
            <a:ext cx="6702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Full-Stack: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Django 5.2.6, </a:t>
            </a: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Base de Datos: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MariaDB/MySQL.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131362" y="3447336"/>
            <a:ext cx="7854000" cy="1107300"/>
          </a:xfrm>
          <a:prstGeom prst="roundRect">
            <a:avLst>
              <a:gd fmla="val 24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154222" y="3470196"/>
            <a:ext cx="737100" cy="10617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075527" y="3654385"/>
            <a:ext cx="3006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IA, Análisis y Procesamiento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075527" y="4052768"/>
            <a:ext cx="6702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IA: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phi3:mini, RandomForestRegressor, LogisticRegression, scikit-learn, pandas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131362" y="4738807"/>
            <a:ext cx="7854000" cy="1402200"/>
          </a:xfrm>
          <a:prstGeom prst="roundRect">
            <a:avLst>
              <a:gd fmla="val 1972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154222" y="4761667"/>
            <a:ext cx="737100" cy="13563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075527" y="4945856"/>
            <a:ext cx="3064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Seguridad y Gestión de Roles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075527" y="5344239"/>
            <a:ext cx="6702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Seguridad: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Django Auth con 3 roles principales: Administrador de Contratos, Seguridad y Consultor.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131362" y="6325076"/>
            <a:ext cx="7854000" cy="1402200"/>
          </a:xfrm>
          <a:prstGeom prst="roundRect">
            <a:avLst>
              <a:gd fmla="val 1972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154222" y="6347936"/>
            <a:ext cx="737100" cy="13563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075527" y="6532126"/>
            <a:ext cx="2303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Frontend y Utilidades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75527" y="6930509"/>
            <a:ext cx="6702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Frontend: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Bootstrap 5 + JavaScript. </a:t>
            </a: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Almacenamiento Cloud: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Google Cloud Storage.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7" title="pngeg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3900" y="2330050"/>
            <a:ext cx="757426" cy="7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 title="pngegg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125" y="3691150"/>
            <a:ext cx="709049" cy="69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075" y="5042099"/>
            <a:ext cx="737100" cy="74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6891" y="6660075"/>
            <a:ext cx="1411827" cy="744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7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70" name="Google Shape;170;p7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7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2" name="Google Shape;172;p7" title="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150"/>
            <a:ext cx="4816976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4339672" y="117250"/>
            <a:ext cx="583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600"/>
              <a:buFont typeface="IBM Plex Sans Medium"/>
              <a:buNone/>
            </a:pPr>
            <a:r>
              <a:rPr b="0" i="0" lang="es" sz="36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Diagrama de Paquetes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8" title="DiagramaDePaquetes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750" y="822063"/>
            <a:ext cx="11216525" cy="6585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8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80" name="Google Shape;180;p8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8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013"/>
            <a:ext cx="14630401" cy="69466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9"/>
          <p:cNvGrpSpPr/>
          <p:nvPr/>
        </p:nvGrpSpPr>
        <p:grpSpPr>
          <a:xfrm>
            <a:off x="12825731" y="7281057"/>
            <a:ext cx="1804679" cy="948549"/>
            <a:chOff x="3561900" y="1268775"/>
            <a:chExt cx="2718300" cy="756600"/>
          </a:xfrm>
        </p:grpSpPr>
        <p:sp>
          <p:nvSpPr>
            <p:cNvPr id="188" name="Google Shape;188;p9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" name="Google Shape;189;p9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793790" y="745212"/>
            <a:ext cx="6508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Resultados de Validación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433702" y="5593685"/>
            <a:ext cx="3321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b="0" i="0" lang="es" sz="22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Precisión de Predicciones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014840" y="6084103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Calificación: </a:t>
            </a:r>
            <a:r>
              <a:rPr b="0" i="0" lang="es" sz="1750" u="none" cap="none" strike="noStrike">
                <a:solidFill>
                  <a:srgbClr val="000000"/>
                </a:solidFill>
                <a:highlight>
                  <a:srgbClr val="FFBC8F"/>
                </a:highlight>
                <a:latin typeface="Roboto"/>
                <a:ea typeface="Roboto"/>
                <a:cs typeface="Roboto"/>
                <a:sym typeface="Roboto"/>
              </a:rPr>
              <a:t>Aceptable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(datos simulados)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9028481" y="5623873"/>
            <a:ext cx="316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b="0" i="0" lang="es" sz="22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Tiempo de Respuesta IA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533181" y="6114291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5-7 segundos (servidores óptimos): </a:t>
            </a:r>
            <a:r>
              <a:rPr b="0" i="0" lang="es" sz="1750" u="none" cap="none" strike="noStrike">
                <a:solidFill>
                  <a:srgbClr val="000000"/>
                </a:solidFill>
                <a:highlight>
                  <a:srgbClr val="FFBC8F"/>
                </a:highlight>
                <a:latin typeface="Roboto"/>
                <a:ea typeface="Roboto"/>
                <a:cs typeface="Roboto"/>
                <a:sym typeface="Roboto"/>
              </a:rPr>
              <a:t>Aceptable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93790" y="721636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Funcionalidad sólida demostrada. Margen de mejora en precisión predictiva una vez se incorporen datos reales.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10"/>
          <p:cNvGrpSpPr/>
          <p:nvPr/>
        </p:nvGrpSpPr>
        <p:grpSpPr>
          <a:xfrm>
            <a:off x="8911313" y="1845180"/>
            <a:ext cx="3402329" cy="3402329"/>
            <a:chOff x="9720813" y="1845180"/>
            <a:chExt cx="3402329" cy="3402329"/>
          </a:xfrm>
        </p:grpSpPr>
        <p:sp>
          <p:nvSpPr>
            <p:cNvPr id="201" name="Google Shape;201;p10"/>
            <p:cNvSpPr/>
            <p:nvPr/>
          </p:nvSpPr>
          <p:spPr>
            <a:xfrm>
              <a:off x="10026983" y="3262832"/>
              <a:ext cx="27900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D4D1"/>
                </a:buClr>
                <a:buSzPts val="4450"/>
                <a:buFont typeface="IBM Plex Sans Medium"/>
                <a:buNone/>
              </a:pPr>
              <a:r>
                <a:rPr b="0" i="0" lang="es" sz="4450" u="none" cap="none" strike="noStrike">
                  <a:solidFill>
                    <a:srgbClr val="D4D4D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5-7</a:t>
              </a:r>
              <a:endParaRPr b="0" i="0" sz="4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202" name="Google Shape;20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20813" y="1845180"/>
              <a:ext cx="3402329" cy="34023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10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204" name="Google Shape;204;p10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" name="Google Shape;205;p10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6" name="Google Shape;206;p10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2947" y="1845175"/>
            <a:ext cx="5502300" cy="3402300"/>
          </a:xfrm>
          <a:prstGeom prst="roundRect">
            <a:avLst>
              <a:gd fmla="val 1004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721638" y="566976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050"/>
              <a:buFont typeface="IBM Plex Sans Medium"/>
              <a:buNone/>
            </a:pPr>
            <a:r>
              <a:rPr b="0" i="0" lang="es" sz="40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Proyecciones Futuras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2" name="Google Shape;2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50" y="1548575"/>
            <a:ext cx="6342099" cy="59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7574274" y="1726650"/>
            <a:ext cx="6221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400"/>
              <a:buFont typeface="IBM Plex Sans Medium"/>
              <a:buNone/>
            </a:pPr>
            <a:r>
              <a:rPr b="0" i="0" lang="es" sz="24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Expansión y Evolución del Proyecto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4280" y="2345174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8811350" y="2551275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b="0" i="0" lang="es" sz="20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Captación Estratégica de Clientes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811339" y="3079552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Identificación de empresas con necesidades de centralización y gestión documental.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7" name="Google Shape;2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4280" y="3945493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8811351" y="4151600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b="0" i="0" lang="es" sz="20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Ampliación con Gestión de Inventario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811339" y="4679871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Integración de módulo de control de stock y logística avanzada.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280" y="5545812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8811355" y="5751900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b="0" i="0" lang="es" sz="20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Optimización Continua de 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811339" y="6280190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Perfeccionamiento de algoritmos IA con datos reales para mayor precisión.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11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224" name="Google Shape;224;p11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11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11"/>
          <p:cNvSpPr txBox="1"/>
          <p:nvPr/>
        </p:nvSpPr>
        <p:spPr>
          <a:xfrm>
            <a:off x="12373500" y="0"/>
            <a:ext cx="225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sng" cap="none" strike="noStrike">
                <a:solidFill>
                  <a:srgbClr val="FFBC8F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de Pruebas</a:t>
            </a:r>
            <a:endParaRPr b="0" i="0" sz="2000" u="none" cap="none" strike="noStrike">
              <a:solidFill>
                <a:srgbClr val="FFBC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>
            <a:hlinkClick r:id="rId9"/>
          </p:cNvPr>
          <p:cNvSpPr txBox="1"/>
          <p:nvPr/>
        </p:nvSpPr>
        <p:spPr>
          <a:xfrm>
            <a:off x="12373500" y="492600"/>
            <a:ext cx="225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sng" cap="none" strike="noStrike">
                <a:solidFill>
                  <a:srgbClr val="FFBC8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2000" u="sng" cap="none" strike="noStrike">
              <a:solidFill>
                <a:srgbClr val="FFBC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